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Master" Type="http://schemas.openxmlformats.org/officeDocument/2006/relationships/slideMaster" Target="slideMasters/slideMaster1.xml"/><Relationship Id="rIdTheme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x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0000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40000" y="65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4200" dirty="0">
                <a:b/>
                <a:solidFill>
                  <a:srgbClr val="0B2545"/>
                </a:solidFill>
                <a:latin typeface="Aptos"/>
                <a:cs typeface="Aptos"/>
              </a:rPr>
              <a:t>HR Analytics DataLendo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50000" y="1320000"/>
            <a:ext cx="88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100" dirty="0">
                <a:solidFill>
                  <a:srgbClr val="475569"/>
                </a:solidFill>
                <a:latin typeface="Aptos"/>
                <a:cs typeface="Aptos"/>
              </a:rPr>
              <a:t>Исполнительные инсайты по численности, turnover, performance и retention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50000" y="5600000"/>
            <a:ext cx="60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400" dirty="0">
                <a:solidFill>
                  <a:srgbClr val="64748B"/>
                </a:solidFill>
                <a:latin typeface="Aptos"/>
                <a:cs typeface="Aptos"/>
              </a:rPr>
              <a:t>Дата анализа: 2026-08-01 | Подготовлено для руководства</a:t>
            </a:r>
          </a:p>
        </p:txBody>
      </p:sp>
      <p:sp>
        <p:nvSpPr>
          <p:cNvPr id="20" name="Box 20"/>
          <p:cNvSpPr/>
          <p:nvPr/>
        </p:nvSpPr>
        <p:spPr>
          <a:xfrm>
            <a:off x="8200000" y="800000"/>
            <a:ext cx="2450000" cy="1000000"/>
          </a:xfrm>
          <a:prstGeom prst="rect">
            <a:avLst/>
          </a:prstGeom>
          <a:solidFill>
            <a:srgbClr val="0B2545"/>
          </a:solidFill>
          <a:ln w="10000">
            <a:solidFill>
              <a:srgbClr val="0B2545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420000" y="1000000"/>
            <a:ext cx="20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3600" dirty="0">
                <a:b/>
                <a:solidFill>
                  <a:srgbClr val="FFFFFF"/>
                </a:solidFill>
                <a:latin typeface="Aptos"/>
                <a:cs typeface="Aptos"/>
              </a:rPr>
              <a:t>1336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420000" y="1450000"/>
            <a:ext cx="21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50" dirty="0">
                <a:solidFill>
                  <a:srgbClr val="CBD5E1"/>
                </a:solidFill>
                <a:latin typeface="Aptos"/>
                <a:cs typeface="Aptos"/>
              </a:rPr>
              <a:t>активных сотрудников</a:t>
            </a:r>
          </a:p>
        </p:txBody>
      </p:sp>
      <p:sp>
        <p:nvSpPr>
          <p:cNvPr id="23" name="Box 23"/>
          <p:cNvSpPr/>
          <p:nvPr/>
        </p:nvSpPr>
        <p:spPr>
          <a:xfrm>
            <a:off x="8200000" y="2020000"/>
            <a:ext cx="2450000" cy="1000000"/>
          </a:xfrm>
          <a:prstGeom prst="rect">
            <a:avLst/>
          </a:prstGeom>
          <a:solidFill>
            <a:srgbClr val="2E74B5"/>
          </a:solidFill>
          <a:ln w="10000">
            <a:solidFill>
              <a:srgbClr val="2E74B5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8420000" y="2220000"/>
            <a:ext cx="20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3600" dirty="0">
                <a:b/>
                <a:solidFill>
                  <a:srgbClr val="FFFFFF"/>
                </a:solidFill>
                <a:latin typeface="Aptos"/>
                <a:cs typeface="Aptos"/>
              </a:rPr>
              <a:t>24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420000" y="2670000"/>
            <a:ext cx="21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50" dirty="0">
                <a:solidFill>
                  <a:srgbClr val="E0F2FE"/>
                </a:solidFill>
                <a:latin typeface="Aptos"/>
                <a:cs typeface="Aptos"/>
              </a:rPr>
              <a:t>ухода за 12 месяцев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x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50000" y="350000"/>
            <a:ext cx="88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600" dirty="0">
                <a:b/>
                <a:solidFill>
                  <a:srgbClr val="0B2545"/>
                </a:solidFill>
                <a:latin typeface="Aptos"/>
                <a:cs typeface="Aptos"/>
              </a:rPr>
              <a:t>Главный вывод: численность стабильна, но риск сконцентрирован по департаментам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50000" y="920000"/>
            <a:ext cx="9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500" dirty="0">
                <a:solidFill>
                  <a:srgbClr val="475569"/>
                </a:solidFill>
                <a:latin typeface="Aptos"/>
                <a:cs typeface="Aptos"/>
              </a:rPr>
              <a:t>Управленческий фокус: targeted retention, актуализация performance review и compensation review для зон риска.</a:t>
            </a:r>
          </a:p>
        </p:txBody>
      </p:sp>
      <p:sp>
        <p:nvSpPr>
          <p:cNvPr id="20" name="Box 20"/>
          <p:cNvSpPr/>
          <p:nvPr/>
        </p:nvSpPr>
        <p:spPr>
          <a:xfrm>
            <a:off x="650000" y="1700000"/>
            <a:ext cx="2400000" cy="1100000"/>
          </a:xfrm>
          <a:prstGeom prst="rect">
            <a:avLst/>
          </a:prstGeom>
          <a:solidFill>
            <a:srgbClr val="F1F5F9"/>
          </a:solidFill>
          <a:ln w="10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10000" y="1900000"/>
            <a:ext cx="190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3000" dirty="0">
                <a:b/>
                <a:solidFill>
                  <a:srgbClr val="0B2545"/>
                </a:solidFill>
                <a:latin typeface="Aptos"/>
                <a:cs typeface="Aptos"/>
              </a:rPr>
              <a:t>1336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10000" y="2350000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00" dirty="0">
                <a:solidFill>
                  <a:srgbClr val="475569"/>
                </a:solidFill>
                <a:latin typeface="Aptos"/>
                <a:cs typeface="Aptos"/>
              </a:rPr>
              <a:t>активных</a:t>
            </a:r>
          </a:p>
        </p:txBody>
      </p:sp>
      <p:sp>
        <p:nvSpPr>
          <p:cNvPr id="23" name="Box 23"/>
          <p:cNvSpPr/>
          <p:nvPr/>
        </p:nvSpPr>
        <p:spPr>
          <a:xfrm>
            <a:off x="3350000" y="1700000"/>
            <a:ext cx="2400000" cy="1100000"/>
          </a:xfrm>
          <a:prstGeom prst="rect">
            <a:avLst/>
          </a:prstGeom>
          <a:solidFill>
            <a:srgbClr val="F1F5F9"/>
          </a:solidFill>
          <a:ln w="10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3510000" y="1900000"/>
            <a:ext cx="190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3000" dirty="0">
                <a:b/>
                <a:solidFill>
                  <a:srgbClr val="0B2545"/>
                </a:solidFill>
                <a:latin typeface="Aptos"/>
                <a:cs typeface="Aptos"/>
              </a:rPr>
              <a:t>164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3510000" y="2350000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00" dirty="0">
                <a:solidFill>
                  <a:srgbClr val="475569"/>
                </a:solidFill>
                <a:latin typeface="Aptos"/>
                <a:cs typeface="Aptos"/>
              </a:rPr>
              <a:t>ухода до даты анализа</a:t>
            </a:r>
          </a:p>
        </p:txBody>
      </p:sp>
      <p:sp>
        <p:nvSpPr>
          <p:cNvPr id="26" name="Box 26"/>
          <p:cNvSpPr/>
          <p:nvPr/>
        </p:nvSpPr>
        <p:spPr>
          <a:xfrm>
            <a:off x="6050000" y="1700000"/>
            <a:ext cx="2400000" cy="1100000"/>
          </a:xfrm>
          <a:prstGeom prst="rect">
            <a:avLst/>
          </a:prstGeom>
          <a:solidFill>
            <a:srgbClr val="F1F5F9"/>
          </a:solidFill>
          <a:ln w="10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210000" y="1900000"/>
            <a:ext cx="190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3000" dirty="0">
                <a:b/>
                <a:solidFill>
                  <a:srgbClr val="0B2545"/>
                </a:solidFill>
                <a:latin typeface="Aptos"/>
                <a:cs typeface="Aptos"/>
              </a:rPr>
              <a:t>36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210000" y="2350000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00" dirty="0">
                <a:solidFill>
                  <a:srgbClr val="475569"/>
                </a:solidFill>
                <a:latin typeface="Aptos"/>
                <a:cs typeface="Aptos"/>
              </a:rPr>
              <a:t>будущих дат ухода</a:t>
            </a:r>
          </a:p>
        </p:txBody>
      </p:sp>
      <p:sp>
        <p:nvSpPr>
          <p:cNvPr id="29" name="Box 29"/>
          <p:cNvSpPr/>
          <p:nvPr/>
        </p:nvSpPr>
        <p:spPr>
          <a:xfrm>
            <a:off x="8750000" y="1700000"/>
            <a:ext cx="2400000" cy="1100000"/>
          </a:xfrm>
          <a:prstGeom prst="rect">
            <a:avLst/>
          </a:prstGeom>
          <a:solidFill>
            <a:srgbClr val="F1F5F9"/>
          </a:solidFill>
          <a:ln w="10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8910000" y="1900000"/>
            <a:ext cx="190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3000" dirty="0">
                <a:b/>
                <a:solidFill>
                  <a:srgbClr val="0B2545"/>
                </a:solidFill>
                <a:latin typeface="Aptos"/>
                <a:cs typeface="Aptos"/>
              </a:rPr>
              <a:t>2024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910000" y="2350000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00" dirty="0">
                <a:solidFill>
                  <a:srgbClr val="475569"/>
                </a:solidFill>
                <a:latin typeface="Aptos"/>
                <a:cs typeface="Aptos"/>
              </a:rPr>
              <a:t>последний год performance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50000" y="365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800" dirty="0">
                <a:solidFill>
                  <a:srgbClr val="1F2937"/>
                </a:solidFill>
                <a:latin typeface="Aptos"/>
                <a:cs typeface="Aptos"/>
              </a:rPr>
              <a:t>Риск данных: performance-оценки заканчиваются 2024 годом. Для принятия решений в 2026 году необходимо обновить HRIS или загрузить последний цикл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x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0000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50000" y="350000"/>
            <a:ext cx="92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550" dirty="0">
                <a:b/>
                <a:solidFill>
                  <a:srgbClr val="0B2545"/>
                </a:solidFill>
                <a:latin typeface="Aptos"/>
                <a:cs typeface="Aptos"/>
              </a:rPr>
              <a:t>Turnover: три департамента требуют первого управленческого разбора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00000" y="125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Direction Générale</a:t>
            </a:r>
          </a:p>
        </p:txBody>
      </p:sp>
      <p:sp>
        <p:nvSpPr>
          <p:cNvPr id="21" name="Bar 21"/>
          <p:cNvSpPr/>
          <p:nvPr/>
        </p:nvSpPr>
        <p:spPr>
          <a:xfrm>
            <a:off x="3500000" y="1280000"/>
            <a:ext cx="6286600" cy="24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9886600" y="12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B2545"/>
                </a:solidFill>
                <a:latin typeface="Aptos"/>
                <a:cs typeface="Aptos"/>
              </a:rPr>
              <a:t>14,62%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00000" y="187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Data &amp; Analytics</a:t>
            </a:r>
          </a:p>
        </p:txBody>
      </p:sp>
      <p:sp>
        <p:nvSpPr>
          <p:cNvPr id="24" name="Bar 24"/>
          <p:cNvSpPr/>
          <p:nvPr/>
        </p:nvSpPr>
        <p:spPr>
          <a:xfrm>
            <a:off x="3500000" y="1900000"/>
            <a:ext cx="5375000" cy="24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975000" y="187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B2545"/>
                </a:solidFill>
                <a:latin typeface="Aptos"/>
                <a:cs typeface="Aptos"/>
              </a:rPr>
              <a:t>12,5%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0000" y="249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Juridique</a:t>
            </a:r>
          </a:p>
        </p:txBody>
      </p:sp>
      <p:sp>
        <p:nvSpPr>
          <p:cNvPr id="27" name="Bar 27"/>
          <p:cNvSpPr/>
          <p:nvPr/>
        </p:nvSpPr>
        <p:spPr>
          <a:xfrm>
            <a:off x="3500000" y="2520000"/>
            <a:ext cx="5340600" cy="24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8940600" y="249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B2545"/>
                </a:solidFill>
                <a:latin typeface="Aptos"/>
                <a:cs typeface="Aptos"/>
              </a:rPr>
              <a:t>12,42%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00000" y="311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Opérations</a:t>
            </a:r>
          </a:p>
        </p:txBody>
      </p:sp>
      <p:sp>
        <p:nvSpPr>
          <p:cNvPr id="30" name="Bar 30"/>
          <p:cNvSpPr/>
          <p:nvPr/>
        </p:nvSpPr>
        <p:spPr>
          <a:xfrm>
            <a:off x="3500000" y="3140000"/>
            <a:ext cx="5160000" cy="24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8760000" y="311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B2545"/>
                </a:solidFill>
                <a:latin typeface="Aptos"/>
                <a:cs typeface="Aptos"/>
              </a:rPr>
              <a:t>12%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00000" y="373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Informatique</a:t>
            </a:r>
          </a:p>
        </p:txBody>
      </p:sp>
      <p:sp>
        <p:nvSpPr>
          <p:cNvPr id="33" name="Bar 33"/>
          <p:cNvSpPr/>
          <p:nvPr/>
        </p:nvSpPr>
        <p:spPr>
          <a:xfrm>
            <a:off x="3500000" y="3760000"/>
            <a:ext cx="5138500" cy="24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8738500" y="373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B2545"/>
                </a:solidFill>
                <a:latin typeface="Aptos"/>
                <a:cs typeface="Aptos"/>
              </a:rPr>
              <a:t>11,95%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50000" y="5000000"/>
            <a:ext cx="90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600" dirty="0">
                <a:solidFill>
                  <a:srgbClr val="475569"/>
                </a:solidFill>
                <a:latin typeface="Aptos"/>
                <a:cs typeface="Aptos"/>
              </a:rPr>
              <a:t>Приоритет: Direction Générale, Data &amp; Analytics, Juridique. Рекомендуется провести интервью причин ухода и проверить менеджерскую нагрузку.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x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50000" y="350000"/>
            <a:ext cx="93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550" dirty="0">
                <a:b/>
                <a:solidFill>
                  <a:srgbClr val="0B2545"/>
                </a:solidFill>
                <a:latin typeface="Aptos"/>
                <a:cs typeface="Aptos"/>
              </a:rPr>
              <a:t>Performance: средние оценки близки, управлять нужно хвостом распределения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00000" y="125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Opérations</a:t>
            </a:r>
          </a:p>
        </p:txBody>
      </p:sp>
      <p:sp>
        <p:nvSpPr>
          <p:cNvPr id="21" name="Bar 21"/>
          <p:cNvSpPr/>
          <p:nvPr/>
        </p:nvSpPr>
        <p:spPr>
          <a:xfrm>
            <a:off x="3500000" y="1280000"/>
            <a:ext cx="6363950" cy="2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9963950" y="12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64E3B"/>
                </a:solidFill>
                <a:latin typeface="Aptos"/>
                <a:cs typeface="Aptos"/>
              </a:rPr>
              <a:t>74,87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00000" y="187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Service Client</a:t>
            </a:r>
          </a:p>
        </p:txBody>
      </p:sp>
      <p:sp>
        <p:nvSpPr>
          <p:cNvPr id="24" name="Bar 24"/>
          <p:cNvSpPr/>
          <p:nvPr/>
        </p:nvSpPr>
        <p:spPr>
          <a:xfrm>
            <a:off x="3500000" y="1900000"/>
            <a:ext cx="6351200" cy="2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9951200" y="187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64E3B"/>
                </a:solidFill>
                <a:latin typeface="Aptos"/>
                <a:cs typeface="Aptos"/>
              </a:rPr>
              <a:t>74,72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0000" y="249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Data &amp; Analytics</a:t>
            </a:r>
          </a:p>
        </p:txBody>
      </p:sp>
      <p:sp>
        <p:nvSpPr>
          <p:cNvPr id="27" name="Bar 27"/>
          <p:cNvSpPr/>
          <p:nvPr/>
        </p:nvSpPr>
        <p:spPr>
          <a:xfrm>
            <a:off x="3500000" y="2520000"/>
            <a:ext cx="6348650" cy="2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9948650" y="249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64E3B"/>
                </a:solidFill>
                <a:latin typeface="Aptos"/>
                <a:cs typeface="Aptos"/>
              </a:rPr>
              <a:t>74,69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00000" y="311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Finance</a:t>
            </a:r>
          </a:p>
        </p:txBody>
      </p:sp>
      <p:sp>
        <p:nvSpPr>
          <p:cNvPr id="30" name="Bar 30"/>
          <p:cNvSpPr/>
          <p:nvPr/>
        </p:nvSpPr>
        <p:spPr>
          <a:xfrm>
            <a:off x="3500000" y="3140000"/>
            <a:ext cx="6340150" cy="2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9940150" y="311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64E3B"/>
                </a:solidFill>
                <a:latin typeface="Aptos"/>
                <a:cs typeface="Aptos"/>
              </a:rPr>
              <a:t>74,59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00000" y="373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Ressources Humaines</a:t>
            </a:r>
          </a:p>
        </p:txBody>
      </p:sp>
      <p:sp>
        <p:nvSpPr>
          <p:cNvPr id="33" name="Bar 33"/>
          <p:cNvSpPr/>
          <p:nvPr/>
        </p:nvSpPr>
        <p:spPr>
          <a:xfrm>
            <a:off x="3500000" y="3760000"/>
            <a:ext cx="6334200" cy="2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9934200" y="373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064E3B"/>
                </a:solidFill>
                <a:latin typeface="Aptos"/>
                <a:cs typeface="Aptos"/>
              </a:rPr>
              <a:t>74,52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50000" y="5000000"/>
            <a:ext cx="90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600" dirty="0">
                <a:solidFill>
                  <a:srgbClr val="475569"/>
                </a:solidFill>
                <a:latin typeface="Aptos"/>
                <a:cs typeface="Aptos"/>
              </a:rPr>
              <a:t>Разница между департаментами невелика; больший эффект даст работа с низким performance-сегментом и сотрудниками без свежего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x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0000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50000" y="350000"/>
            <a:ext cx="92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500" dirty="0">
                <a:b/>
                <a:solidFill>
                  <a:srgbClr val="0B2545"/>
                </a:solidFill>
                <a:latin typeface="Aptos"/>
                <a:cs typeface="Aptos"/>
              </a:rPr>
              <a:t>Retention по когортам: новые когорты удерживаются лучше, старшие требуют диагностики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00000" y="13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00" dirty="0">
                <a:b/>
                <a:solidFill>
                  <a:srgbClr val="334155"/>
                </a:solidFill>
                <a:latin typeface="Aptos"/>
                <a:cs typeface="Aptos"/>
              </a:rPr>
              <a:t>2019</a:t>
            </a:r>
          </a:p>
        </p:txBody>
      </p:sp>
      <p:sp>
        <p:nvSpPr>
          <p:cNvPr id="21" name="Bar 21"/>
          <p:cNvSpPr/>
          <p:nvPr/>
        </p:nvSpPr>
        <p:spPr>
          <a:xfrm>
            <a:off x="2000000" y="1330000"/>
            <a:ext cx="7437500" cy="2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9537500" y="130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92400E"/>
                </a:solidFill>
                <a:latin typeface="Aptos"/>
                <a:cs typeface="Aptos"/>
              </a:rPr>
              <a:t>87,5%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00000" y="19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00" dirty="0">
                <a:b/>
                <a:solidFill>
                  <a:srgbClr val="334155"/>
                </a:solidFill>
                <a:latin typeface="Aptos"/>
                <a:cs typeface="Aptos"/>
              </a:rPr>
              <a:t>2020</a:t>
            </a:r>
          </a:p>
        </p:txBody>
      </p:sp>
      <p:sp>
        <p:nvSpPr>
          <p:cNvPr id="24" name="Bar 24"/>
          <p:cNvSpPr/>
          <p:nvPr/>
        </p:nvSpPr>
        <p:spPr>
          <a:xfrm>
            <a:off x="2000000" y="1980000"/>
            <a:ext cx="7260700" cy="2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9360700" y="19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92400E"/>
                </a:solidFill>
                <a:latin typeface="Aptos"/>
                <a:cs typeface="Aptos"/>
              </a:rPr>
              <a:t>85,42%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00000" y="26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00" dirty="0">
                <a:b/>
                <a:solidFill>
                  <a:srgbClr val="334155"/>
                </a:solidFill>
                <a:latin typeface="Aptos"/>
                <a:cs typeface="Aptos"/>
              </a:rPr>
              <a:t>2021</a:t>
            </a:r>
          </a:p>
        </p:txBody>
      </p:sp>
      <p:sp>
        <p:nvSpPr>
          <p:cNvPr id="27" name="Bar 27"/>
          <p:cNvSpPr/>
          <p:nvPr/>
        </p:nvSpPr>
        <p:spPr>
          <a:xfrm>
            <a:off x="2000000" y="2630000"/>
            <a:ext cx="7601550" cy="2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9701550" y="260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92400E"/>
                </a:solidFill>
                <a:latin typeface="Aptos"/>
                <a:cs typeface="Aptos"/>
              </a:rPr>
              <a:t>89,43%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00000" y="325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00" dirty="0">
                <a:b/>
                <a:solidFill>
                  <a:srgbClr val="334155"/>
                </a:solidFill>
                <a:latin typeface="Aptos"/>
                <a:cs typeface="Aptos"/>
              </a:rPr>
              <a:t>2022</a:t>
            </a:r>
          </a:p>
        </p:txBody>
      </p:sp>
      <p:sp>
        <p:nvSpPr>
          <p:cNvPr id="30" name="Bar 30"/>
          <p:cNvSpPr/>
          <p:nvPr/>
        </p:nvSpPr>
        <p:spPr>
          <a:xfrm>
            <a:off x="2000000" y="3280000"/>
            <a:ext cx="7534400" cy="2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9634400" y="32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92400E"/>
                </a:solidFill>
                <a:latin typeface="Aptos"/>
                <a:cs typeface="Aptos"/>
              </a:rPr>
              <a:t>88,64%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900000" y="39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300" dirty="0">
                <a:b/>
                <a:solidFill>
                  <a:srgbClr val="334155"/>
                </a:solidFill>
                <a:latin typeface="Aptos"/>
                <a:cs typeface="Aptos"/>
              </a:rPr>
              <a:t>2023</a:t>
            </a:r>
          </a:p>
        </p:txBody>
      </p:sp>
      <p:sp>
        <p:nvSpPr>
          <p:cNvPr id="33" name="Bar 33"/>
          <p:cNvSpPr/>
          <p:nvPr/>
        </p:nvSpPr>
        <p:spPr>
          <a:xfrm>
            <a:off x="2000000" y="3930000"/>
            <a:ext cx="8021450" cy="2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10121450" y="390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92400E"/>
                </a:solidFill>
                <a:latin typeface="Aptos"/>
                <a:cs typeface="Aptos"/>
              </a:rPr>
              <a:t>94,37%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50000" y="5100000"/>
            <a:ext cx="9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550" dirty="0">
                <a:solidFill>
                  <a:srgbClr val="475569"/>
                </a:solidFill>
                <a:latin typeface="Aptos"/>
                <a:cs typeface="Aptos"/>
              </a:rPr>
              <a:t>Когорта 2023 показывает 94,37%, но ее горизонт наблюдения короче. Для честного вывода нужен когортный мониторинг по одинаковому периоду после найма.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x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0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50000" y="350000"/>
            <a:ext cx="93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500" dirty="0">
                <a:b/>
                <a:solidFill>
                  <a:srgbClr val="0B2545"/>
                </a:solidFill>
                <a:latin typeface="Aptos"/>
                <a:cs typeface="Aptos"/>
              </a:rPr>
              <a:t>Компенсации: проверять нужно связь зарплаты и ухода, а не только средние значения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50000" y="130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Direction Générale</a:t>
            </a:r>
          </a:p>
        </p:txBody>
      </p:sp>
      <p:sp>
        <p:nvSpPr>
          <p:cNvPr id="21" name="Bar 21"/>
          <p:cNvSpPr/>
          <p:nvPr/>
        </p:nvSpPr>
        <p:spPr>
          <a:xfrm>
            <a:off x="3600000" y="1330000"/>
            <a:ext cx="5197869" cy="2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8897869" y="130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3730A3"/>
                </a:solidFill>
                <a:latin typeface="Aptos"/>
                <a:cs typeface="Aptos"/>
              </a:rPr>
              <a:t>3057,57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50000" y="191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Finance</a:t>
            </a:r>
          </a:p>
        </p:txBody>
      </p:sp>
      <p:sp>
        <p:nvSpPr>
          <p:cNvPr id="24" name="Bar 24"/>
          <p:cNvSpPr/>
          <p:nvPr/>
        </p:nvSpPr>
        <p:spPr>
          <a:xfrm>
            <a:off x="3600000" y="1940000"/>
            <a:ext cx="5188587" cy="2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888587" y="191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3730A3"/>
                </a:solidFill>
                <a:latin typeface="Aptos"/>
                <a:cs typeface="Aptos"/>
              </a:rPr>
              <a:t>3052,11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50000" y="252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Service Client</a:t>
            </a:r>
          </a:p>
        </p:txBody>
      </p:sp>
      <p:sp>
        <p:nvSpPr>
          <p:cNvPr id="27" name="Bar 27"/>
          <p:cNvSpPr/>
          <p:nvPr/>
        </p:nvSpPr>
        <p:spPr>
          <a:xfrm>
            <a:off x="3600000" y="2550000"/>
            <a:ext cx="5162033" cy="2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8862033" y="252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3730A3"/>
                </a:solidFill>
                <a:latin typeface="Aptos"/>
                <a:cs typeface="Aptos"/>
              </a:rPr>
              <a:t>3036,49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50000" y="313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Informatique</a:t>
            </a:r>
          </a:p>
        </p:txBody>
      </p:sp>
      <p:sp>
        <p:nvSpPr>
          <p:cNvPr id="30" name="Bar 30"/>
          <p:cNvSpPr/>
          <p:nvPr/>
        </p:nvSpPr>
        <p:spPr>
          <a:xfrm>
            <a:off x="3600000" y="3160000"/>
            <a:ext cx="5081606" cy="2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8781606" y="313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3730A3"/>
                </a:solidFill>
                <a:latin typeface="Aptos"/>
                <a:cs typeface="Aptos"/>
              </a:rPr>
              <a:t>2989,18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50000" y="374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334155"/>
                </a:solidFill>
                <a:latin typeface="Aptos"/>
                <a:cs typeface="Aptos"/>
              </a:rPr>
              <a:t>Juridique</a:t>
            </a:r>
          </a:p>
        </p:txBody>
      </p:sp>
      <p:sp>
        <p:nvSpPr>
          <p:cNvPr id="33" name="Bar 33"/>
          <p:cNvSpPr/>
          <p:nvPr/>
        </p:nvSpPr>
        <p:spPr>
          <a:xfrm>
            <a:off x="3600000" y="3770000"/>
            <a:ext cx="5016802" cy="2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8716802" y="374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b/>
                <a:solidFill>
                  <a:srgbClr val="3730A3"/>
                </a:solidFill>
                <a:latin typeface="Aptos"/>
                <a:cs typeface="Aptos"/>
              </a:rPr>
              <a:t>2951,06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50000" y="5050000"/>
            <a:ext cx="89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600" dirty="0">
                <a:solidFill>
                  <a:srgbClr val="475569"/>
                </a:solidFill>
                <a:latin typeface="Aptos"/>
                <a:cs typeface="Aptos"/>
              </a:rPr>
              <a:t>Следующий шаг: построить матрицу "turnover x salaire moyen" и определить департаменты для compensation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x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0000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50000" y="350000"/>
            <a:ext cx="93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550" dirty="0">
                <a:b/>
                <a:solidFill>
                  <a:srgbClr val="0B2545"/>
                </a:solidFill>
                <a:latin typeface="Aptos"/>
                <a:cs typeface="Aptos"/>
              </a:rPr>
              <a:t>Сегменты performance и типы увольнений задают HR-план действий</a:t>
            </a:r>
          </a:p>
        </p:txBody>
      </p:sp>
      <p:sp>
        <p:nvSpPr>
          <p:cNvPr id="20" name="Box 20"/>
          <p:cNvSpPr/>
          <p:nvPr/>
        </p:nvSpPr>
        <p:spPr>
          <a:xfrm>
            <a:off x="900000" y="1350000"/>
            <a:ext cx="2700000" cy="850000"/>
          </a:xfrm>
          <a:prstGeom prst="rect">
            <a:avLst/>
          </a:prstGeom>
          <a:solidFill>
            <a:srgbClr val="EEF2FF"/>
          </a:solidFill>
          <a:ln w="10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1080000" y="153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450" dirty="0">
                <a:b/>
                <a:solidFill>
                  <a:srgbClr val="3730A3"/>
                </a:solidFill>
                <a:latin typeface="Aptos"/>
                <a:cs typeface="Aptos"/>
              </a:rPr>
              <a:t>Высокая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80000" y="188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475569"/>
                </a:solidFill>
                <a:latin typeface="Aptos"/>
                <a:cs typeface="Aptos"/>
              </a:rPr>
              <a:t>408 сотрудников | 27,2%</a:t>
            </a:r>
          </a:p>
        </p:txBody>
      </p:sp>
      <p:sp>
        <p:nvSpPr>
          <p:cNvPr id="23" name="Box 23"/>
          <p:cNvSpPr/>
          <p:nvPr/>
        </p:nvSpPr>
        <p:spPr>
          <a:xfrm>
            <a:off x="4000000" y="1350000"/>
            <a:ext cx="2700000" cy="850000"/>
          </a:xfrm>
          <a:prstGeom prst="rect">
            <a:avLst/>
          </a:prstGeom>
          <a:solidFill>
            <a:srgbClr val="EEF2FF"/>
          </a:solidFill>
          <a:ln w="10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4180000" y="153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450" dirty="0">
                <a:b/>
                <a:solidFill>
                  <a:srgbClr val="3730A3"/>
                </a:solidFill>
                <a:latin typeface="Aptos"/>
                <a:cs typeface="Aptos"/>
              </a:rPr>
              <a:t>Низкая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180000" y="188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475569"/>
                </a:solidFill>
                <a:latin typeface="Aptos"/>
                <a:cs typeface="Aptos"/>
              </a:rPr>
              <a:t>62 сотрудников | 4,13%</a:t>
            </a:r>
          </a:p>
        </p:txBody>
      </p:sp>
      <p:sp>
        <p:nvSpPr>
          <p:cNvPr id="26" name="Box 26"/>
          <p:cNvSpPr/>
          <p:nvPr/>
        </p:nvSpPr>
        <p:spPr>
          <a:xfrm>
            <a:off x="7100000" y="1350000"/>
            <a:ext cx="2700000" cy="850000"/>
          </a:xfrm>
          <a:prstGeom prst="rect">
            <a:avLst/>
          </a:prstGeom>
          <a:solidFill>
            <a:srgbClr val="EEF2FF"/>
          </a:solidFill>
          <a:ln w="10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7280000" y="153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450" dirty="0">
                <a:b/>
                <a:solidFill>
                  <a:srgbClr val="3730A3"/>
                </a:solidFill>
                <a:latin typeface="Aptos"/>
                <a:cs typeface="Aptos"/>
              </a:rPr>
              <a:t>Средняя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7280000" y="188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475569"/>
                </a:solidFill>
                <a:latin typeface="Aptos"/>
                <a:cs typeface="Aptos"/>
              </a:rPr>
              <a:t>1030 сотрудников | 68,67%</a:t>
            </a:r>
          </a:p>
        </p:txBody>
      </p:sp>
      <p:sp>
        <p:nvSpPr>
          <p:cNvPr id="29" name="Box 29"/>
          <p:cNvSpPr/>
          <p:nvPr/>
        </p:nvSpPr>
        <p:spPr>
          <a:xfrm>
            <a:off x="1500000" y="3300000"/>
            <a:ext cx="3600000" cy="800000"/>
          </a:xfrm>
          <a:prstGeom prst="rect">
            <a:avLst/>
          </a:prstGeom>
          <a:solidFill>
            <a:srgbClr val="F8FAFC"/>
          </a:solidFill>
          <a:ln w="1000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1680000" y="3480000"/>
            <a:ext cx="31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400" dirty="0">
                <a:b/>
                <a:solidFill>
                  <a:srgbClr val="0B2545"/>
                </a:solidFill>
                <a:latin typeface="Aptos"/>
                <a:cs typeface="Aptos"/>
              </a:rPr>
              <a:t>Уход: involontaire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680000" y="3820000"/>
            <a:ext cx="31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475569"/>
                </a:solidFill>
                <a:latin typeface="Aptos"/>
                <a:cs typeface="Aptos"/>
              </a:rPr>
              <a:t>82 случаев | 50%</a:t>
            </a:r>
          </a:p>
        </p:txBody>
      </p:sp>
      <p:sp>
        <p:nvSpPr>
          <p:cNvPr id="32" name="Box 32"/>
          <p:cNvSpPr/>
          <p:nvPr/>
        </p:nvSpPr>
        <p:spPr>
          <a:xfrm>
            <a:off x="5600000" y="3300000"/>
            <a:ext cx="3600000" cy="800000"/>
          </a:xfrm>
          <a:prstGeom prst="rect">
            <a:avLst/>
          </a:prstGeom>
          <a:solidFill>
            <a:srgbClr val="F8FAFC"/>
          </a:solidFill>
          <a:ln w="1000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5780000" y="3480000"/>
            <a:ext cx="31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400" dirty="0">
                <a:b/>
                <a:solidFill>
                  <a:srgbClr val="0B2545"/>
                </a:solidFill>
                <a:latin typeface="Aptos"/>
                <a:cs typeface="Aptos"/>
              </a:rPr>
              <a:t>Уход: volontaire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780000" y="3820000"/>
            <a:ext cx="31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250" dirty="0">
                <a:solidFill>
                  <a:srgbClr val="475569"/>
                </a:solidFill>
                <a:latin typeface="Aptos"/>
                <a:cs typeface="Aptos"/>
              </a:rPr>
              <a:t>82 случаев | 50%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x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 w="10000">
            <a:solidFill>
              <a:srgbClr val="0B2545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50000" y="42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800" dirty="0">
                <a:b/>
                <a:solidFill>
                  <a:srgbClr val="FFFFFF"/>
                </a:solidFill>
                <a:latin typeface="Aptos"/>
                <a:cs typeface="Aptos"/>
              </a:rPr>
              <a:t>Решения для руководства на следующий квартал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00000" y="13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000" dirty="0">
                <a:b/>
                <a:solidFill>
                  <a:srgbClr val="93C5FD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500000" y="1300000"/>
            <a:ext cx="8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700" dirty="0">
                <a:solidFill>
                  <a:srgbClr val="E2E8F0"/>
                </a:solidFill>
                <a:latin typeface="Aptos"/>
                <a:cs typeface="Aptos"/>
              </a:rPr>
              <a:t>Targeted retention review в 3 департаментах с максимальным turnover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00000" y="20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000" dirty="0">
                <a:b/>
                <a:solidFill>
                  <a:srgbClr val="93C5FD"/>
                </a:solidFill>
                <a:latin typeface="Aptos"/>
                <a:cs typeface="Aptos"/>
              </a:rPr>
              <a:t>2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500000" y="2060000"/>
            <a:ext cx="8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700" dirty="0">
                <a:solidFill>
                  <a:srgbClr val="E2E8F0"/>
                </a:solidFill>
                <a:latin typeface="Aptos"/>
                <a:cs typeface="Aptos"/>
              </a:rPr>
              <a:t>90-дневные планы развития для low-performance сотрудников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900000" y="28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000" dirty="0">
                <a:b/>
                <a:solidFill>
                  <a:srgbClr val="93C5FD"/>
                </a:solidFill>
                <a:latin typeface="Aptos"/>
                <a:cs typeface="Aptos"/>
              </a:rPr>
              <a:t>3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500000" y="2820000"/>
            <a:ext cx="8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700" dirty="0">
                <a:solidFill>
                  <a:srgbClr val="E2E8F0"/>
                </a:solidFill>
                <a:latin typeface="Aptos"/>
                <a:cs typeface="Aptos"/>
              </a:rPr>
              <a:t>Обновить performance feedback за 2025-2026 и закрыть пробел данных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00000" y="35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000" dirty="0">
                <a:b/>
                <a:solidFill>
                  <a:srgbClr val="93C5FD"/>
                </a:solidFill>
                <a:latin typeface="Aptos"/>
                <a:cs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500000" y="3580000"/>
            <a:ext cx="8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700" dirty="0">
                <a:solidFill>
                  <a:srgbClr val="E2E8F0"/>
                </a:solidFill>
                <a:latin typeface="Aptos"/>
                <a:cs typeface="Aptos"/>
              </a:rPr>
              <a:t>Запустить compensation review там, где turnover сочетается с низкой зарплатой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00000" y="43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2000" dirty="0">
                <a:b/>
                <a:solidFill>
                  <a:srgbClr val="93C5FD"/>
                </a:solidFill>
                <a:latin typeface="Aptos"/>
                <a:cs typeface="Aptos"/>
              </a:rPr>
              <a:t>5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1500000" y="4340000"/>
            <a:ext cx="8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ru-RU" sz="1700" dirty="0">
                <a:solidFill>
                  <a:srgbClr val="E2E8F0"/>
                </a:solidFill>
                <a:latin typeface="Aptos"/>
                <a:cs typeface="Aptos"/>
              </a:rPr>
              <a:t>Собрать ежеквартальный HR dashboard для Executive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Lendo">
  <a:themeElements>
    <a:clrScheme name="DataLendo">
      <a:dk1>
        <a:srgbClr val="0B2545"/>
      </a:dk1>
      <a:lt1>
        <a:srgbClr val="FFFFFF"/>
      </a:lt1>
      <a:dk2>
        <a:srgbClr val="1F2937"/>
      </a:dk2>
      <a:lt2>
        <a:srgbClr val="F8FAFC"/>
      </a:lt2>
      <a:accent1>
        <a:srgbClr val="2E74B5"/>
      </a:accent1>
      <a:accent2>
        <a:srgbClr val="10B981"/>
      </a:accent2>
      <a:accent3>
        <a:srgbClr val="F59E0B"/>
      </a:accent3>
      <a:accent4>
        <a:srgbClr val="6366F1"/>
      </a:accent4>
      <a:accent5>
        <a:srgbClr val="EF4444"/>
      </a:accent5>
      <a:accent6>
        <a:srgbClr val="64748B"/>
      </a:accent6>
      <a:hlink>
        <a:srgbClr val="2E74B5"/>
      </a:hlink>
      <a:folHlink>
        <a:srgbClr val="6366F1"/>
      </a:folHlink>
    </a:clrScheme>
    <a:fontScheme name="DataLendo">
      <a:majorFont>
        <a:latin typeface="Aptos Display"/>
        <a:cs typeface="Aptos"/>
      </a:majorFont>
      <a:minorFont>
        <a:latin typeface="Aptos"/>
        <a:cs typeface="Aptos"/>
      </a:minorFont>
    </a:fontScheme>
    <a:fmtScheme name="DataLendo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